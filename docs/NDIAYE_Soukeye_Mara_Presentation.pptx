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keye Ndiaye" userId="de92487846e07d27" providerId="LiveId" clId="{336A4B7E-3115-405D-9ED5-45F6017E8AA5}"/>
    <pc:docChg chg="modSld">
      <pc:chgData name="Soukeye Ndiaye" userId="de92487846e07d27" providerId="LiveId" clId="{336A4B7E-3115-405D-9ED5-45F6017E8AA5}" dt="2026-06-22T23:08:23.349" v="1"/>
      <pc:docMkLst>
        <pc:docMk/>
      </pc:docMkLst>
      <pc:sldChg chg="modTransition">
        <pc:chgData name="Soukeye Ndiaye" userId="de92487846e07d27" providerId="LiveId" clId="{336A4B7E-3115-405D-9ED5-45F6017E8AA5}" dt="2026-06-22T23:08:23.349" v="1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principe de l'IntersectionObserver : il détecte quand un élément entre dans la zone visible de l'écran, sans avoir à calculer manuellement la position de scroll. unobserve() évite de relancer l'animation à chaque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Bento Grid : grid-template-columns + grid-column/row: span N pour créer des blocs de tailles différentes. Pour les variables CSS : déclarées dans :root, réutilisées partout avec var(--nom).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prof creuse sur l'incident Git : rester honnête sur le fait qu'un problème technique a décalé le rythme des commits, tout en montrant que le travail a été repris sérieusement par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le site en ligne dans le navigateur. Parcours suggéré : Accueil (hero, stats, Bento Grid, témoignages) -&gt; toggle dark mode -&gt; Freelances (filtre par catégorie) -&gt; Contact (validation du formulaire, erreurs puis succès).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1" Type="http://schemas.openxmlformats.org/officeDocument/2006/relationships/image" Target="../media/image2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ra06161-ux.github.io/NDIAYE-Soukeye-Mara-AfriTalent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ra06161-ux.github.io/NDIAYE-Soukeye-Mara-AfriTalent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64008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262626"/>
          </a:solidFill>
        </p:spPr>
      </p:sp>
      <p:sp>
        <p:nvSpPr>
          <p:cNvPr id="3" name="Shape 1"/>
          <p:cNvSpPr/>
          <p:nvPr/>
        </p:nvSpPr>
        <p:spPr>
          <a:xfrm>
            <a:off x="11064240" y="64008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FF6B6B"/>
          </a:solidFill>
        </p:spPr>
      </p:sp>
      <p:sp>
        <p:nvSpPr>
          <p:cNvPr id="4" name="Shape 2"/>
          <p:cNvSpPr/>
          <p:nvPr/>
        </p:nvSpPr>
        <p:spPr>
          <a:xfrm>
            <a:off x="11064240" y="14630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262626"/>
          </a:solidFill>
        </p:spPr>
      </p:sp>
      <p:sp>
        <p:nvSpPr>
          <p:cNvPr id="5" name="Text 3"/>
          <p:cNvSpPr/>
          <p:nvPr/>
        </p:nvSpPr>
        <p:spPr>
          <a:xfrm>
            <a:off x="731520" y="228600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</a:t>
            </a:r>
            <a:r>
              <a:rPr lang="en-US" sz="60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Talent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Plateforme de mise en relation entre freelances tech et entreprises en Afrique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4114800"/>
            <a:ext cx="201168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43400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DDD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NDIAYE Soukeye Mara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Licence 1 — Data Science &amp; Big Data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DDD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Soutenance de projet — Juin 2026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4" name="Text 2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du projet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02920" cy="5029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7" name="Text 5"/>
          <p:cNvSpPr/>
          <p:nvPr/>
        </p:nvSpPr>
        <p:spPr>
          <a:xfrm>
            <a:off x="6080760" y="1463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0" y="141732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Choix de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10" name="Text 8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6888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du site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502920" cy="5029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3" name="Text 11"/>
          <p:cNvSpPr/>
          <p:nvPr/>
        </p:nvSpPr>
        <p:spPr>
          <a:xfrm>
            <a:off x="6080760" y="25146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46888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Points techniques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16" name="Text 14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52044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&amp; déploiement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3566160"/>
            <a:ext cx="502920" cy="5029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9" name="Text 17"/>
          <p:cNvSpPr/>
          <p:nvPr/>
        </p:nvSpPr>
        <p:spPr>
          <a:xfrm>
            <a:off x="6080760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52044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Difficultés rencontrées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22" name="Text 20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7200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Ressources utilisées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80760" y="4617720"/>
            <a:ext cx="502920" cy="5029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5" name="Text 23"/>
          <p:cNvSpPr/>
          <p:nvPr/>
        </p:nvSpPr>
        <p:spPr>
          <a:xfrm>
            <a:off x="6080760" y="46177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457200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Démonstration &amp; conclusion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05200" cy="4206240"/>
          </a:xfrm>
          <a:prstGeom prst="roundRect">
            <a:avLst>
              <a:gd name="adj" fmla="val 208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C3E50"/>
          </a:solidFill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865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28651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marché du freelance tech connaît une croissance forte en Afrique : développeurs, designers et créateurs de contenu cherchent une plateforme fiable pour proposer leurs services.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05200" cy="4206240"/>
          </a:xfrm>
          <a:prstGeom prst="roundRect">
            <a:avLst>
              <a:gd name="adj" fmla="val 208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820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498DB"/>
          </a:solidFill>
        </p:spPr>
      </p:sp>
      <p:sp>
        <p:nvSpPr>
          <p:cNvPr id="10" name="Text 8"/>
          <p:cNvSpPr/>
          <p:nvPr/>
        </p:nvSpPr>
        <p:spPr>
          <a:xfrm>
            <a:off x="4648200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8200" y="2651760"/>
            <a:ext cx="2865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8200" y="3154680"/>
            <a:ext cx="28651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Concevoir et développer le site vitrine complet d'AfriTalent : présentation de la plateforme, fonctionnalités, tarifs, profils de freelances, et conversion des visiteurs en inscrits.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7680" y="1554480"/>
            <a:ext cx="3505200" cy="4206240"/>
          </a:xfrm>
          <a:prstGeom prst="roundRect">
            <a:avLst>
              <a:gd name="adj" fmla="val 208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772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6B6B"/>
          </a:solidFill>
        </p:spPr>
      </p:sp>
      <p:sp>
        <p:nvSpPr>
          <p:cNvPr id="15" name="Text 13"/>
          <p:cNvSpPr/>
          <p:nvPr/>
        </p:nvSpPr>
        <p:spPr>
          <a:xfrm>
            <a:off x="8427720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7720" y="2651760"/>
            <a:ext cx="2865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cible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7720" y="3154680"/>
            <a:ext cx="28651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Deux audiences : les freelances tech à la recherche de missions, et les entreprises à la recherche de talents qualifiés à recruter rapidement.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Choix de design — Palette de couleurs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couleurs principales, validées pour leur cohérence via coolors.co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7432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#2C3E50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 nuit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Primaire — titres, boutons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82880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27432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#3498DB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16352" y="43434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Bleu clair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16352" y="4709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Secondaire — survol, liens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84064" y="182880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84064" y="27432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#FF6B6B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84064" y="43434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4064" y="4709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Accent — CTA, mise en valeur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51776" y="182880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51776" y="27432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#F8F9FA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51776" y="43434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Blanc cassé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51776" y="4709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Fond clair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9488" y="1828800"/>
            <a:ext cx="1993392" cy="2377440"/>
          </a:xfrm>
          <a:prstGeom prst="roundRect">
            <a:avLst>
              <a:gd name="adj" fmla="val 458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19488" y="27432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#333333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19488" y="4343400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Gris foncé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19488" y="4709160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Texte principal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Choix de design — Typographie &amp; inspirations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Fonts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Montserrat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Titres — police géométrique et expressive, forte présence visuelle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48463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66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Roboto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Corps de texte — lisibilité optimale, moderne et neutre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Palette maximale : 5 couleurs — cohérence visuelle sur les 5 pages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1A1A1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7373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Inspirations &amp; tendances 2026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2377440"/>
            <a:ext cx="164592" cy="16459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4" name="Text 12"/>
          <p:cNvSpPr/>
          <p:nvPr/>
        </p:nvSpPr>
        <p:spPr>
          <a:xfrm>
            <a:off x="6995160" y="226771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Awwwards &amp; Dribbble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260604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Inspiration design haut de gamme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164592" cy="16459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7" name="Text 15"/>
          <p:cNvSpPr/>
          <p:nvPr/>
        </p:nvSpPr>
        <p:spPr>
          <a:xfrm>
            <a:off x="6995160" y="304495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Bento Grid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338328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Mise en page asymétrique et modulaire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3931920"/>
            <a:ext cx="164592" cy="16459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0" name="Text 18"/>
          <p:cNvSpPr/>
          <p:nvPr/>
        </p:nvSpPr>
        <p:spPr>
          <a:xfrm>
            <a:off x="6995160" y="382219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Confort visuel, tendance incontournable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4709160"/>
            <a:ext cx="164592" cy="164592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3" name="Text 21"/>
          <p:cNvSpPr/>
          <p:nvPr/>
        </p:nvSpPr>
        <p:spPr>
          <a:xfrm>
            <a:off x="6995160" y="459943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Micro-interactions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9377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Animations au scroll, hover, transitions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1A1A1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5120640" cy="4023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NDIAYE-Soukeye-Mara-AfriTalent/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index.html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freelances.html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tarifs.html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about.html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contact.html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css/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style.css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js/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main.js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images/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(photos, captures d'écran)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docs/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│   └── Presentation.pptx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├── README.md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└── .gitignore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Principes de structure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0" y="21488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</p:spPr>
      </p:sp>
      <p:sp>
        <p:nvSpPr>
          <p:cNvPr id="7" name="Text 5"/>
          <p:cNvSpPr/>
          <p:nvPr/>
        </p:nvSpPr>
        <p:spPr>
          <a:xfrm>
            <a:off x="6903720" y="214884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pages HTML reliées par une navigation cohérente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30632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</p:spPr>
      </p:sp>
      <p:sp>
        <p:nvSpPr>
          <p:cNvPr id="9" name="Text 7"/>
          <p:cNvSpPr/>
          <p:nvPr/>
        </p:nvSpPr>
        <p:spPr>
          <a:xfrm>
            <a:off x="6903720" y="306324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seul fichier CSS externe, avec variables centralisées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39776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</p:spPr>
      </p:sp>
      <p:sp>
        <p:nvSpPr>
          <p:cNvPr id="11" name="Text 9"/>
          <p:cNvSpPr/>
          <p:nvPr/>
        </p:nvSpPr>
        <p:spPr>
          <a:xfrm>
            <a:off x="6903720" y="397764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seul fichier JS vanilla, sans framework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4892040"/>
            <a:ext cx="4937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</p:spPr>
      </p:sp>
      <p:sp>
        <p:nvSpPr>
          <p:cNvPr id="13" name="Text 11"/>
          <p:cNvSpPr/>
          <p:nvPr/>
        </p:nvSpPr>
        <p:spPr>
          <a:xfrm>
            <a:off x="6903720" y="489204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Séparation stricte structure / style / comportement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Aperçu des pages</a:t>
            </a:r>
            <a:endParaRPr lang="en-US" sz="30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548640" y="1463040"/>
            <a:ext cx="5349240" cy="36576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731520" y="1581912"/>
            <a:ext cx="128016" cy="128016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960120" y="1581912"/>
            <a:ext cx="128016" cy="12801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1188720" y="1581912"/>
            <a:ext cx="128016" cy="128016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548640" y="1828800"/>
            <a:ext cx="5349240" cy="4114800"/>
          </a:xfrm>
          <a:prstGeom prst="roundRect">
            <a:avLst/>
          </a:prstGeom>
          <a:solidFill>
            <a:srgbClr val="EFEFEF"/>
          </a:solidFill>
        </p:spPr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914400" y="361188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d'écran à insérer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548640" y="60807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d'accueil — index.html</a:t>
            </a:r>
            <a:endParaRPr lang="en-US" sz="1300" dirty="0"/>
          </a:p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blipFill rotWithShape="1">
            <a:blip r:embed="rId20"/>
            <a:stretch>
              <a:fillRect/>
            </a:stretch>
          </a:blipFill>
          <a:ln w="190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10"/>
            </p:custDataLst>
          </p:nvPr>
        </p:nvSpPr>
        <p:spPr>
          <a:xfrm>
            <a:off x="6263640" y="1463040"/>
            <a:ext cx="5349240" cy="36576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3" name="Shape 11"/>
          <p:cNvSpPr/>
          <p:nvPr>
            <p:custDataLst>
              <p:tags r:id="rId11"/>
            </p:custDataLst>
          </p:nvPr>
        </p:nvSpPr>
        <p:spPr>
          <a:xfrm>
            <a:off x="6446520" y="1581912"/>
            <a:ext cx="128016" cy="128016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4" name="Shape 12"/>
          <p:cNvSpPr/>
          <p:nvPr>
            <p:custDataLst>
              <p:tags r:id="rId12"/>
            </p:custDataLst>
          </p:nvPr>
        </p:nvSpPr>
        <p:spPr>
          <a:xfrm>
            <a:off x="6675120" y="1581912"/>
            <a:ext cx="128016" cy="12801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6903720" y="1581912"/>
            <a:ext cx="128016" cy="128016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6263640" y="1828800"/>
            <a:ext cx="5349240" cy="4114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" name="Text 15"/>
          <p:cNvSpPr/>
          <p:nvPr>
            <p:custDataLst>
              <p:tags r:id="rId15"/>
            </p:custDataLst>
          </p:nvPr>
        </p:nvSpPr>
        <p:spPr>
          <a:xfrm>
            <a:off x="6629400" y="361188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d'écran à insérer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6"/>
            </p:custDataLst>
          </p:nvPr>
        </p:nvSpPr>
        <p:spPr>
          <a:xfrm>
            <a:off x="6263640" y="608076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Freelances — freelances.html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pic>
        <p:nvPicPr>
          <p:cNvPr id="25" name="Image 24" descr="kappframework-QhGvWQ(1)(1)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628650" y="1831975"/>
            <a:ext cx="5210810" cy="4068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Points techniques — JavaScript vanilla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4" name="Text 2"/>
          <p:cNvSpPr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mode persistant (localStorage)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146304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7" name="Text 5"/>
          <p:cNvSpPr/>
          <p:nvPr/>
        </p:nvSpPr>
        <p:spPr>
          <a:xfrm>
            <a:off x="3749040" y="14630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144475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Compteurs animés au scroll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0" name="Text 8"/>
          <p:cNvSpPr/>
          <p:nvPr/>
        </p:nvSpPr>
        <p:spPr>
          <a:xfrm>
            <a:off x="548640" y="2240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22199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Filtrage dynamique des freelances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24028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3" name="Text 11"/>
          <p:cNvSpPr/>
          <p:nvPr/>
        </p:nvSpPr>
        <p:spPr>
          <a:xfrm>
            <a:off x="3749040" y="2240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22199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complète du formulaire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6" name="Text 14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9923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Navbar dynamique au scroll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301752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9" name="Text 17"/>
          <p:cNvSpPr/>
          <p:nvPr/>
        </p:nvSpPr>
        <p:spPr>
          <a:xfrm>
            <a:off x="3749040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299923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Bouton retour en haut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2" name="Text 20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776472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Animations fade-in (IntersectionObserver)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0" y="146304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1A1A1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16459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Détection au scroll — IntersectionObserver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103120"/>
            <a:ext cx="4480560" cy="3749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counterObserver =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new IntersectionObserver((entries) =&gt;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entries.forEach(entry =&gt;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if (entry.isIntersecting) {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// anime le chiffre de 0 à sa cible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animerCompteur(entry.target);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counterObserver.unobserve(entry.target);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});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counters.forEach(c =&gt;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counterObserver.observe(c)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Points techniques — Bootstrap 5 &amp; CSS avancé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Composants Bootstrap 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146304" cy="146304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6" name="Text 4"/>
          <p:cNvSpPr/>
          <p:nvPr/>
        </p:nvSpPr>
        <p:spPr>
          <a:xfrm>
            <a:off x="1143000" y="22860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Navbar responsive (collapse, sticky)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146304" cy="146304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8" name="Text 6"/>
          <p:cNvSpPr/>
          <p:nvPr/>
        </p:nvSpPr>
        <p:spPr>
          <a:xfrm>
            <a:off x="1143000" y="29718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 (freelances, équipe, tarifs)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146304" cy="146304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0" name="Text 8"/>
          <p:cNvSpPr/>
          <p:nvPr/>
        </p:nvSpPr>
        <p:spPr>
          <a:xfrm>
            <a:off x="1143000" y="36576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Carousel (témoignages)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389120"/>
            <a:ext cx="146304" cy="146304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2" name="Text 10"/>
          <p:cNvSpPr/>
          <p:nvPr/>
        </p:nvSpPr>
        <p:spPr>
          <a:xfrm>
            <a:off x="1143000" y="43434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Accordion (FAQ)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5074920"/>
            <a:ext cx="146304" cy="146304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1143000" y="50292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Grid system (row / col-*)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1A1A1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69164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avancé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2331720"/>
            <a:ext cx="146304" cy="146304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8" name="Text 16"/>
          <p:cNvSpPr/>
          <p:nvPr/>
        </p:nvSpPr>
        <p:spPr>
          <a:xfrm>
            <a:off x="6858000" y="22860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variables CSS (:root) — couleurs, polices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3017520"/>
            <a:ext cx="146304" cy="146304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0" name="Text 18"/>
          <p:cNvSpPr/>
          <p:nvPr/>
        </p:nvSpPr>
        <p:spPr>
          <a:xfrm>
            <a:off x="6858000" y="29718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Bento Grid (CSS Grid, span colonnes/lignes)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703320"/>
            <a:ext cx="146304" cy="146304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2" name="Text 20"/>
          <p:cNvSpPr/>
          <p:nvPr/>
        </p:nvSpPr>
        <p:spPr>
          <a:xfrm>
            <a:off x="6858000" y="36576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Animations &amp; transitions (fade-in, hover)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4389120"/>
            <a:ext cx="146304" cy="146304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4" name="Text 22"/>
          <p:cNvSpPr/>
          <p:nvPr/>
        </p:nvSpPr>
        <p:spPr>
          <a:xfrm>
            <a:off x="6858000" y="43434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 queries (375px / 768px / 1200px)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5074920"/>
            <a:ext cx="146304" cy="146304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6" name="Text 24"/>
          <p:cNvSpPr/>
          <p:nvPr/>
        </p:nvSpPr>
        <p:spPr>
          <a:xfrm>
            <a:off x="6858000" y="5029200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Fonts (Montserrat + Roboto)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— Workflow &amp; déploiement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2C3E5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8745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Avril 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Dépôt, arborescence, structure HTML de 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3017520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383280" y="164592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F6B6B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8745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Commits 2-5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complet, CSS, Bento Grid, responsive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3017520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217920" y="164592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2C3E50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8745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Commits 6-8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24612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Dark mode, compteurs, filtrage, validation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78240" y="3017520"/>
            <a:ext cx="274320" cy="0"/>
          </a:xfrm>
          <a:prstGeom prst="line">
            <a:avLst/>
          </a:prstGeom>
          <a:noFill/>
          <a:ln w="19050">
            <a:solidFill>
              <a:srgbClr val="BBBBB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052560" y="164592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F6B6B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52560" y="187452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052560" y="2514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Finalisation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28346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EEE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Commits 9-10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81160" y="3246120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F5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Corrections, README, GitHub Pages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commits avec les messages exacts imposés, suivant l'ordre logique du projet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51760" y="52120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0" y="53492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en ligne — GitHub Pages</a:t>
            </a:r>
            <a:endParaRPr lang="en-US" sz="1200" dirty="0"/>
          </a:p>
        </p:txBody>
      </p:sp>
      <p:sp>
        <p:nvSpPr>
          <p:cNvPr id="29" name="Text 27">
            <a:hlinkClick r:id="rId3"/>
          </p:cNvPr>
          <p:cNvSpPr/>
          <p:nvPr/>
        </p:nvSpPr>
        <p:spPr>
          <a:xfrm>
            <a:off x="5577840" y="534924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3498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mara06161-ux.github.io/NDIAYE-Soukeye-Mara-AfriTalent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Difficultés rencontrées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</p:spPr>
      </p:sp>
      <p:sp>
        <p:nvSpPr>
          <p:cNvPr id="5" name="Text 3"/>
          <p:cNvSpPr/>
          <p:nvPr/>
        </p:nvSpPr>
        <p:spPr>
          <a:xfrm>
            <a:off x="868680" y="18745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Perte de progression suite à un incident Git, ayant nécessité de recommencer plusieurs fois certaines parties du code.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069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</p:spPr>
      </p:sp>
      <p:sp>
        <p:nvSpPr>
          <p:cNvPr id="8" name="Text 6"/>
          <p:cNvSpPr/>
          <p:nvPr/>
        </p:nvSpPr>
        <p:spPr>
          <a:xfrm>
            <a:off x="868680" y="40690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Reprise méthodique du travail, avec des commits réguliers jusqu'au rendu final pour sécuriser chaque étape.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8745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E0E0E0"/>
          </a:solidFill>
        </p:spPr>
      </p:sp>
      <p:sp>
        <p:nvSpPr>
          <p:cNvPr id="12" name="Text 10"/>
          <p:cNvSpPr/>
          <p:nvPr/>
        </p:nvSpPr>
        <p:spPr>
          <a:xfrm>
            <a:off x="6583680" y="187452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 Bento Grid (hauteur de ligne fixe en CSS) coupait le texte des cartes contenant plus de contenu.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4069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</p:spPr>
      </p:sp>
      <p:sp>
        <p:nvSpPr>
          <p:cNvPr id="15" name="Text 13"/>
          <p:cNvSpPr/>
          <p:nvPr/>
        </p:nvSpPr>
        <p:spPr>
          <a:xfrm>
            <a:off x="6583680" y="40690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4663440"/>
            <a:ext cx="4709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Remplacement de grid-auto-rows: 160px par minmax(160px, auto) pour laisser la hauteur s'adapter au contenu.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Ressources &amp; documentation consultées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C3E50"/>
          </a:solidFill>
        </p:spPr>
      </p:sp>
      <p:sp>
        <p:nvSpPr>
          <p:cNvPr id="5" name="Text 3"/>
          <p:cNvSpPr/>
          <p:nvPr/>
        </p:nvSpPr>
        <p:spPr>
          <a:xfrm>
            <a:off x="822960" y="24688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072384"/>
            <a:ext cx="91440" cy="9144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7" name="Text 5"/>
          <p:cNvSpPr/>
          <p:nvPr/>
        </p:nvSpPr>
        <p:spPr>
          <a:xfrm>
            <a:off x="1051560" y="29260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MDN Web Docs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575304"/>
            <a:ext cx="91440" cy="9144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9" name="Text 7"/>
          <p:cNvSpPr/>
          <p:nvPr/>
        </p:nvSpPr>
        <p:spPr>
          <a:xfrm>
            <a:off x="1051560" y="3429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5 Docs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78224"/>
            <a:ext cx="91440" cy="91440"/>
          </a:xfrm>
          <a:prstGeom prst="ellipse">
            <a:avLst/>
          </a:prstGeom>
          <a:solidFill>
            <a:srgbClr val="2C3E50"/>
          </a:solidFill>
        </p:spPr>
      </p:sp>
      <p:sp>
        <p:nvSpPr>
          <p:cNvPr id="11" name="Text 9"/>
          <p:cNvSpPr/>
          <p:nvPr/>
        </p:nvSpPr>
        <p:spPr>
          <a:xfrm>
            <a:off x="1051560" y="393192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Documentation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498DB"/>
          </a:solidFill>
        </p:spPr>
      </p:sp>
      <p:sp>
        <p:nvSpPr>
          <p:cNvPr id="14" name="Text 12"/>
          <p:cNvSpPr/>
          <p:nvPr/>
        </p:nvSpPr>
        <p:spPr>
          <a:xfrm>
            <a:off x="3657600" y="24688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3072384"/>
            <a:ext cx="91440" cy="914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6" name="Text 14"/>
          <p:cNvSpPr/>
          <p:nvPr/>
        </p:nvSpPr>
        <p:spPr>
          <a:xfrm>
            <a:off x="3886200" y="29260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Fonts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3575304"/>
            <a:ext cx="91440" cy="914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18" name="Text 16"/>
          <p:cNvSpPr/>
          <p:nvPr/>
        </p:nvSpPr>
        <p:spPr>
          <a:xfrm>
            <a:off x="3886200" y="3429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Icons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0" y="4078224"/>
            <a:ext cx="91440" cy="91440"/>
          </a:xfrm>
          <a:prstGeom prst="ellipse">
            <a:avLst/>
          </a:prstGeom>
          <a:solidFill>
            <a:srgbClr val="3498DB"/>
          </a:solidFill>
        </p:spPr>
      </p:sp>
      <p:sp>
        <p:nvSpPr>
          <p:cNvPr id="20" name="Text 18"/>
          <p:cNvSpPr/>
          <p:nvPr/>
        </p:nvSpPr>
        <p:spPr>
          <a:xfrm>
            <a:off x="3886200" y="393192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Coolors.co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6B"/>
          </a:solidFill>
        </p:spPr>
      </p:sp>
      <p:sp>
        <p:nvSpPr>
          <p:cNvPr id="23" name="Text 21"/>
          <p:cNvSpPr/>
          <p:nvPr/>
        </p:nvSpPr>
        <p:spPr>
          <a:xfrm>
            <a:off x="6492240" y="24688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92240" y="3072384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5" name="Text 23"/>
          <p:cNvSpPr/>
          <p:nvPr/>
        </p:nvSpPr>
        <p:spPr>
          <a:xfrm>
            <a:off x="6720840" y="29260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Pexels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3575304"/>
            <a:ext cx="91440" cy="9144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27" name="Text 25"/>
          <p:cNvSpPr/>
          <p:nvPr/>
        </p:nvSpPr>
        <p:spPr>
          <a:xfrm>
            <a:off x="6720840" y="342900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Unsplash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52560" y="155448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8F9FA"/>
          </a:solidFill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2688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7AE60"/>
          </a:solidFill>
        </p:spPr>
      </p:sp>
      <p:sp>
        <p:nvSpPr>
          <p:cNvPr id="30" name="Text 28"/>
          <p:cNvSpPr/>
          <p:nvPr/>
        </p:nvSpPr>
        <p:spPr>
          <a:xfrm>
            <a:off x="9326880" y="24688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Qualité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326880" y="3072384"/>
            <a:ext cx="91440" cy="91440"/>
          </a:xfrm>
          <a:prstGeom prst="ellipse">
            <a:avLst/>
          </a:prstGeom>
          <a:solidFill>
            <a:srgbClr val="27AE60"/>
          </a:solidFill>
        </p:spPr>
      </p:sp>
      <p:sp>
        <p:nvSpPr>
          <p:cNvPr id="32" name="Text 30"/>
          <p:cNvSpPr/>
          <p:nvPr/>
        </p:nvSpPr>
        <p:spPr>
          <a:xfrm>
            <a:off x="9555480" y="2926080"/>
            <a:ext cx="1783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W3C Validator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Démonstration en direct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Navigation, dark mode, filtrage, formulaire, responsive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37360" y="2011680"/>
            <a:ext cx="8686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2011680"/>
            <a:ext cx="8686800" cy="457200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6" name="Shape 4"/>
          <p:cNvSpPr/>
          <p:nvPr/>
        </p:nvSpPr>
        <p:spPr>
          <a:xfrm>
            <a:off x="1965960" y="2167128"/>
            <a:ext cx="146304" cy="146304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7" name="Shape 5"/>
          <p:cNvSpPr/>
          <p:nvPr/>
        </p:nvSpPr>
        <p:spPr>
          <a:xfrm>
            <a:off x="2240280" y="2167128"/>
            <a:ext cx="146304" cy="146304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8" name="Shape 6"/>
          <p:cNvSpPr/>
          <p:nvPr/>
        </p:nvSpPr>
        <p:spPr>
          <a:xfrm>
            <a:off x="2514600" y="2167128"/>
            <a:ext cx="146304" cy="146304"/>
          </a:xfrm>
          <a:prstGeom prst="ellipse">
            <a:avLst/>
          </a:prstGeom>
          <a:solidFill>
            <a:srgbClr val="2ECC71"/>
          </a:solidFill>
        </p:spPr>
      </p:sp>
      <p:sp>
        <p:nvSpPr>
          <p:cNvPr id="9" name="Text 7"/>
          <p:cNvSpPr/>
          <p:nvPr/>
        </p:nvSpPr>
        <p:spPr>
          <a:xfrm>
            <a:off x="3017520" y="2084832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mara06161-ux.github.io/NDIAYE-Soukeye-Mara-AfriTalent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3383280"/>
            <a:ext cx="8686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Afri</a:t>
            </a:r>
            <a:r>
              <a:rPr lang="en-US" sz="44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Talent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737360" y="438912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Trouvez le talent africain qu'il vous faut</a:t>
            </a:r>
            <a:endParaRPr lang="en-US" sz="16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737360" y="51206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3498D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Lien : mara06161-ux.github.io/NDIAYE-Soukeye-Mara-AfriTalent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486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FF6B6B"/>
          </a:solidFill>
        </p:spPr>
      </p:sp>
      <p:sp>
        <p:nvSpPr>
          <p:cNvPr id="3" name="Shape 1"/>
          <p:cNvSpPr/>
          <p:nvPr/>
        </p:nvSpPr>
        <p:spPr>
          <a:xfrm>
            <a:off x="11338560" y="548640"/>
            <a:ext cx="365760" cy="822960"/>
          </a:xfrm>
          <a:prstGeom prst="roundRect">
            <a:avLst>
              <a:gd name="adj" fmla="val 20000"/>
            </a:avLst>
          </a:prstGeom>
          <a:solidFill>
            <a:srgbClr val="333333"/>
          </a:solidFill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1907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pages développées avec une navigation cohérente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9" name="Text 7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Bootstrap 5 et CSS avancé maîtrisés (Bento Grid, variables, animations)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2" name="Text 10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5643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fonctionnalités JavaScript vanilla implémentées et comprises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5" name="Text 13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325112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Projet versionné avec Git et déployé sur GitHub Pages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486400"/>
            <a:ext cx="45720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6692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BBB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projet m'a permis de consolider mes bases en développement front-end, et de mieux comprendre l'intérêt d'un versioning Git régulier.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Perspectives d'amélioration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</p:spPr>
      </p:sp>
      <p:sp>
        <p:nvSpPr>
          <p:cNvPr id="4" name="Shape 2"/>
          <p:cNvSpPr/>
          <p:nvPr/>
        </p:nvSpPr>
        <p:spPr>
          <a:xfrm>
            <a:off x="868680" y="1828800"/>
            <a:ext cx="274320" cy="2743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5" name="Text 3"/>
          <p:cNvSpPr/>
          <p:nvPr/>
        </p:nvSpPr>
        <p:spPr>
          <a:xfrm>
            <a:off x="1280160" y="155448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Back-end réel avec base de données (comptes utilisateurs)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</p:spPr>
      </p:sp>
      <p:sp>
        <p:nvSpPr>
          <p:cNvPr id="7" name="Shape 5"/>
          <p:cNvSpPr/>
          <p:nvPr/>
        </p:nvSpPr>
        <p:spPr>
          <a:xfrm>
            <a:off x="6446520" y="1828800"/>
            <a:ext cx="274320" cy="2743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8" name="Text 6"/>
          <p:cNvSpPr/>
          <p:nvPr/>
        </p:nvSpPr>
        <p:spPr>
          <a:xfrm>
            <a:off x="6858000" y="155448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Système d'authentification et messagerie interne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</p:spPr>
      </p:sp>
      <p:sp>
        <p:nvSpPr>
          <p:cNvPr id="10" name="Shape 8"/>
          <p:cNvSpPr/>
          <p:nvPr/>
        </p:nvSpPr>
        <p:spPr>
          <a:xfrm>
            <a:off x="868680" y="2834640"/>
            <a:ext cx="274320" cy="2743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1" name="Text 9"/>
          <p:cNvSpPr/>
          <p:nvPr/>
        </p:nvSpPr>
        <p:spPr>
          <a:xfrm>
            <a:off x="1280160" y="256032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Paiement en ligne sécurisé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262626"/>
          </a:solidFill>
        </p:spPr>
      </p:sp>
      <p:sp>
        <p:nvSpPr>
          <p:cNvPr id="13" name="Shape 11"/>
          <p:cNvSpPr/>
          <p:nvPr/>
        </p:nvSpPr>
        <p:spPr>
          <a:xfrm>
            <a:off x="6446520" y="2834640"/>
            <a:ext cx="274320" cy="274320"/>
          </a:xfrm>
          <a:prstGeom prst="ellipse">
            <a:avLst/>
          </a:prstGeom>
          <a:solidFill>
            <a:srgbClr val="FF6B6B"/>
          </a:solidFill>
        </p:spPr>
      </p:sp>
      <p:sp>
        <p:nvSpPr>
          <p:cNvPr id="14" name="Text 12"/>
          <p:cNvSpPr/>
          <p:nvPr/>
        </p:nvSpPr>
        <p:spPr>
          <a:xfrm>
            <a:off x="6858000" y="2560320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DED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multilingue (français / anglais)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88136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Merci pour votre attention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 questions </a:t>
            </a:r>
            <a:r>
              <a:rPr lang="en-US" sz="1800" b="1" dirty="0">
                <a:solidFill>
                  <a:srgbClr val="FF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2.4,&quot;left&quot;:43.2,&quot;top&quot;:115.2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1138</Words>
  <Application>Microsoft Office PowerPoint</Application>
  <PresentationFormat>Grand écran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— Soutenance de projet</dc:title>
  <dc:subject>PptxGenJS Presentation</dc:subject>
  <dc:creator>NDIAYE Soukeye Mara</dc:creator>
  <cp:lastModifiedBy>Soukeye Ndiaye</cp:lastModifiedBy>
  <cp:revision>4</cp:revision>
  <dcterms:created xsi:type="dcterms:W3CDTF">2026-06-22T21:15:00Z</dcterms:created>
  <dcterms:modified xsi:type="dcterms:W3CDTF">2026-06-22T23:10:29Z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594B3EE8AF884B13B95A2190F19DFC0A_13</vt:lpwstr>
  </property>
  <property fmtid="{D5CDD505-2E9C-101B-9397-08002B2CF9AE}" pid="3" name="KSOProductBuildVer">
    <vt:lpwstr>1036-12.2.0.23196</vt:lpwstr>
  </property>
</Properties>
</file>